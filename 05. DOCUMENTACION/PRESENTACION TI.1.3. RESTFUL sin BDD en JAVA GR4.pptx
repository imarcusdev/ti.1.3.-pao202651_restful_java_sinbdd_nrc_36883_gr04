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3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87" r:id="rId10"/>
    <p:sldId id="388" r:id="rId11"/>
    <p:sldId id="389" r:id="rId12"/>
    <p:sldId id="390" r:id="rId13"/>
    <p:sldId id="391" r:id="rId14"/>
    <p:sldId id="392" r:id="rId15"/>
    <p:sldId id="393" r:id="rId16"/>
    <p:sldId id="394" r:id="rId17"/>
    <p:sldId id="395" r:id="rId18"/>
    <p:sldId id="396" r:id="rId19"/>
    <p:sldId id="397" r:id="rId20"/>
    <p:sldId id="398" r:id="rId21"/>
    <p:sldId id="399" r:id="rId22"/>
    <p:sldId id="400" r:id="rId23"/>
    <p:sldId id="401" r:id="rId24"/>
    <p:sldId id="402" r:id="rId25"/>
    <p:sldId id="403" r:id="rId26"/>
    <p:sldId id="404" r:id="rId27"/>
    <p:sldId id="405" r:id="rId28"/>
    <p:sldId id="406" r:id="rId29"/>
    <p:sldId id="407" r:id="rId30"/>
    <p:sldId id="408" r:id="rId31"/>
    <p:sldId id="409" r:id="rId32"/>
    <p:sldId id="410" r:id="rId33"/>
    <p:sldId id="411" r:id="rId34"/>
    <p:sldId id="412" r:id="rId35"/>
    <p:sldId id="413" r:id="rId36"/>
    <p:sldId id="414" r:id="rId37"/>
    <p:sldId id="415" r:id="rId38"/>
    <p:sldId id="416" r:id="rId39"/>
    <p:sldId id="342" r:id="rId40"/>
    <p:sldId id="343" r:id="rId41"/>
    <p:sldId id="344" r:id="rId42"/>
    <p:sldId id="382" r:id="rId43"/>
    <p:sldId id="383" r:id="rId44"/>
    <p:sldId id="384" r:id="rId45"/>
    <p:sldId id="385" r:id="rId46"/>
    <p:sldId id="386" r:id="rId47"/>
    <p:sldId id="345" r:id="rId48"/>
    <p:sldId id="346" r:id="rId49"/>
    <p:sldId id="347" r:id="rId50"/>
    <p:sldId id="375" r:id="rId51"/>
    <p:sldId id="376" r:id="rId52"/>
    <p:sldId id="377" r:id="rId53"/>
    <p:sldId id="378" r:id="rId54"/>
    <p:sldId id="379" r:id="rId55"/>
    <p:sldId id="380" r:id="rId56"/>
    <p:sldId id="381" r:id="rId57"/>
    <p:sldId id="348" r:id="rId58"/>
    <p:sldId id="349" r:id="rId59"/>
    <p:sldId id="350" r:id="rId60"/>
    <p:sldId id="368" r:id="rId61"/>
    <p:sldId id="369" r:id="rId62"/>
    <p:sldId id="370" r:id="rId63"/>
    <p:sldId id="371" r:id="rId64"/>
    <p:sldId id="372" r:id="rId65"/>
    <p:sldId id="373" r:id="rId66"/>
    <p:sldId id="374" r:id="rId67"/>
    <p:sldId id="351" r:id="rId68"/>
    <p:sldId id="352" r:id="rId69"/>
    <p:sldId id="353" r:id="rId70"/>
    <p:sldId id="359" r:id="rId71"/>
    <p:sldId id="360" r:id="rId72"/>
    <p:sldId id="361" r:id="rId73"/>
    <p:sldId id="362" r:id="rId74"/>
    <p:sldId id="363" r:id="rId75"/>
    <p:sldId id="364" r:id="rId76"/>
    <p:sldId id="365" r:id="rId77"/>
    <p:sldId id="366" r:id="rId78"/>
    <p:sldId id="367" r:id="rId79"/>
    <p:sldId id="354" r:id="rId80"/>
    <p:sldId id="357" r:id="rId81"/>
    <p:sldId id="358" r:id="rId82"/>
  </p:sldIdLst>
  <p:sldSz cx="12192000" cy="6858000"/>
  <p:notesSz cx="6858000" cy="9144000"/>
  <p:embeddedFontLst>
    <p:embeddedFont>
      <p:font typeface="Cambria" panose="02040503050406030204" pitchFamily="18" charset="0"/>
      <p:regular r:id="rId84"/>
      <p:bold r:id="rId85"/>
      <p:italic r:id="rId86"/>
      <p:boldItalic r:id="rId87"/>
    </p:embeddedFont>
    <p:embeddedFont>
      <p:font typeface="Gill Sans" panose="020B0604020202020204" charset="0"/>
      <p:regular r:id="rId88"/>
      <p:bold r:id="rId8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1.fntdata"/><Relationship Id="rId89" Type="http://schemas.openxmlformats.org/officeDocument/2006/relationships/font" Target="fonts/font6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2.fntdata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font" Target="fonts/font5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4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RESTFUL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5036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RESTFUL EN JAVA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6295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RESTful en JAVA,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RESTful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11274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RESTFUL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 EE en Payara (JAX-RS) · http://localhost:8080/WS_CON_UNI_JAVA_RESTFUL/api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Java with Maven › Web Application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WS_CON_UNI_JAVA_RESTFUL con el paquete ec.edu.monster.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Payara Server en el puerto 8080 y la ruta base /api (@ApplicationPath).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jakarta.jakartaee-api 11 (incluye JAX-RS y JSON-B).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76530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Endpoints REST (LoginEndpoint, CatalogEndpoint y ConverterEndpoint):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45DBEE-C7E3-C85F-71FB-7A0F67077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935" y="4171252"/>
            <a:ext cx="3935451" cy="216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848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1107AD-DF98-DB29-89C9-ED68409A3A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239699"/>
              </p:ext>
            </p:extLst>
          </p:nvPr>
        </p:nvGraphicFramePr>
        <p:xfrm>
          <a:off x="584200" y="2680042"/>
          <a:ext cx="8585201" cy="1584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957322417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832051928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054246638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11375981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143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53604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67585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52477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E7885D-5D43-F402-67BA-9EB2DBEDE22C}"/>
              </a:ext>
            </a:extLst>
          </p:cNvPr>
          <p:cNvSpPr txBox="1"/>
          <p:nvPr/>
        </p:nvSpPr>
        <p:spPr>
          <a:xfrm>
            <a:off x="584200" y="441740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POST /api/login  ·  catálogo → GET /api/catalog/{tipo}  ·  conversión → POST /api/converter</a:t>
            </a:r>
          </a:p>
        </p:txBody>
      </p:sp>
    </p:spTree>
    <p:extLst>
      <p:ext uri="{BB962C8B-B14F-4D97-AF65-F5344CB8AC3E}">
        <p14:creationId xmlns:p14="http://schemas.microsoft.com/office/powerpoint/2010/main" val="3536974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FE8225-1C58-B14F-7B29-211BF140EC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3144598"/>
              </p:ext>
            </p:extLst>
          </p:nvPr>
        </p:nvGraphicFramePr>
        <p:xfrm>
          <a:off x="584200" y="2680042"/>
          <a:ext cx="85852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3776530656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356184724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2857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5561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60685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76298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1215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805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6636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3148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@Path, @POST y @Produces publican el recurso /api/converter, que recibe y devuelve JSON.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viaja en el encabezado Authorization; si no es válido, el servidor responde 401.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00688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@Path("converter")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@POST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@Consumes(MediaType.APPLICATION_JSON)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@HeaderParam("Authorization")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ConvertDTO convert)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ConverterResponseDTO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EstadosEnum.ERROR, "Token Inválido",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Response.status(401).entity(dto).build();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... conversión y respuesta 200 en JSON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0963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Código fuente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JakartaRestConfiguration.java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Configuración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987606"/>
              </p:ext>
            </p:extLst>
          </p:nvPr>
        </p:nvGraphicFramePr>
        <p:xfrm>
          <a:off x="3327400" y="2032000"/>
          <a:ext cx="5651500" cy="41808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JakartaRestConfiguration.java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Configures Jakarta RESTful Web Services for the application.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Juneau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@ApplicationPath("api")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JakartaRestConfiguration extends Application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CatalogEndpoint.java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ec.edu.monster.api;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@Path("catalog")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CatalogEndpoint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String formatType(String text)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(text == null || text.isEmpty())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text;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Capitalize &amp; lowercase remain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text.substring(0, 1).toUpperCase() + text.substring(1).toLowerCase();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7555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907895"/>
              </p:ext>
            </p:extLst>
          </p:nvPr>
        </p:nvGraphicFramePr>
        <p:xfrm>
          <a:off x="3327400" y="2032000"/>
          <a:ext cx="5651500" cy="33578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@GET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@Path("{type}")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getCatalog(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@PathParam("type")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@HeaderParam("Authorization") String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type = CatalogEndpoint.formatType(type);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CatalogResponseDTO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Collections.emptySet()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5070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840615"/>
              </p:ext>
            </p:extLst>
          </p:nvPr>
        </p:nvGraphicFramePr>
        <p:xfrm>
          <a:off x="3327400" y="2032000"/>
          <a:ext cx="5651500" cy="32207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"Obtención de Catálogo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ConverterController.getConverter(type).getUnits()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"Tipo de Catálogo Inexistente",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Collections.emptySet()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0278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ec/edu/monster/api/ConverterEndpoint.java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041670"/>
              </p:ext>
            </p:extLst>
          </p:nvPr>
        </p:nvGraphicFramePr>
        <p:xfrm>
          <a:off x="3327400" y="2032000"/>
          <a:ext cx="5651500" cy="34950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ec.edu.monster.api;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@Path("converter")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@POST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@Consumes(MediaType.APPLICATION_JSON)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@HeaderParam("Authorization")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ConvertDTO convert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type = convert.getType();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 = convert.getValue();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from = convert.getFrom();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 = convert.getTo();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ConverterResponseDTO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ConverterResponseDTO(EstadosEnum.ERROR, "Token Inválido", 0);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404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96625"/>
              </p:ext>
            </p:extLst>
          </p:nvPr>
        </p:nvGraphicFramePr>
        <p:xfrm>
          <a:off x="3327400" y="2032000"/>
          <a:ext cx="5651500" cy="40436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ConverterController.convert(type, value, from,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"No se pudo hacer la conversión",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0014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ec/edu/monster/api/LoginEndpoint.java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537131"/>
              </p:ext>
            </p:extLst>
          </p:nvPr>
        </p:nvGraphicFramePr>
        <p:xfrm>
          <a:off x="3327400" y="2032000"/>
          <a:ext cx="5651500" cy="28092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ec.edu.monster.api;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@Path("login")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LoginEndpoint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@POST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@Consumes(MediaType.APPLICATION_JSON)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@Produces(MediaType.APPLICATION_JSON)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 loginUser(UserDTO login)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 = login.getUsername();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password = login.getPassword();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LoginResponseDTO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token = LoginController.login(username, password);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2383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233353"/>
              </p:ext>
            </p:extLst>
          </p:nvPr>
        </p:nvGraphicFramePr>
        <p:xfrm>
          <a:off x="3327400" y="2032000"/>
          <a:ext cx="5651500" cy="44551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LoginEndpoint.java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"Ingreso de Sesión Exitoso!",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"Credenciales Incorrectas",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.status(dto.getEstado() == EstadosEnum.OK ? 200 : 401)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.entity(dto)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.type(MediaType.APPLICATION_JSON)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ConverterController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DataConverter getConverter(String type) throws Exception {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5960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040840"/>
              </p:ext>
            </p:extLst>
          </p:nvPr>
        </p:nvGraphicFramePr>
        <p:xfrm>
          <a:off x="3327400" y="2032000"/>
          <a:ext cx="5651500" cy="34950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(type)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"Area":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AreaModel();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"Longitud":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LongitudModel();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"Masa":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MasaPesoModel();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"Temperatura":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TemperaturaModel();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"Tiempo":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TiempoModel();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"Volumen":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VolumenModel();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throw new Exception("Type Converter not found!");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double convert(String type, double value, String from, String to)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DataConverter converter = ConverterController.getConverter(type);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converter.convert(value,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8081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ec/edu/monster/controlador/LoginController.java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783022"/>
              </p:ext>
            </p:extLst>
          </p:nvPr>
        </p:nvGraphicFramePr>
        <p:xfrm>
          <a:off x="3327400" y="2032000"/>
          <a:ext cx="5651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LoginController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login(String username, String password)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LoginRepository repository = new LoginImplRepository();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repository.validateCredentials(username,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validateUser(String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TokenService.validateToken(token);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0358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TokenService.java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ec/edu/monster/servicios/TokenService.java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1319053"/>
              </p:ext>
            </p:extLst>
          </p:nvPr>
        </p:nvGraphicFramePr>
        <p:xfrm>
          <a:off x="3327400" y="2032000"/>
          <a:ext cx="5651500" cy="30835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ec.edu.monster.servicios;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TokenService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final Set&lt;String&gt; tokensActivos = new HashSet&lt;&gt;();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generateToken()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 = UUID.randomUUID().toString();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tokensActivos.add(token);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validateToken(String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tokensActivos.contains(token);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3887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CatalogResponseDTO.java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ec/edu/monster/modelos/dto/CatalogResponseDTO.java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188003"/>
              </p:ext>
            </p:extLst>
          </p:nvPr>
        </p:nvGraphicFramePr>
        <p:xfrm>
          <a:off x="3327400" y="2032000"/>
          <a:ext cx="5651500" cy="33578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CatalogResponseDTO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Set&lt;String&gt; resultado;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CatalogResponseDTO(EstadosEnum estado, String mensaje, Set&lt;String&gt;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setResultado(Set&lt;String&gt;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Set&lt;String&gt; getResultado()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62546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ConvertDTO.java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ec/edu/monster/modelos/dto/ConvertDTO.java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336788"/>
              </p:ext>
            </p:extLst>
          </p:nvPr>
        </p:nvGraphicFramePr>
        <p:xfrm>
          <a:off x="3327400" y="2032000"/>
          <a:ext cx="5651500" cy="41808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double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ConvertDTO()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ConvertDTO(String type, 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this.type =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this.value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this.from =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 = 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getType()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setType(String type)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this.type =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6254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ConvertDTO.java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613390"/>
              </p:ext>
            </p:extLst>
          </p:nvPr>
        </p:nvGraphicFramePr>
        <p:xfrm>
          <a:off x="3327400" y="2032000"/>
          <a:ext cx="5651500" cy="36322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getValue()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setValue(double value)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this.value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getFrom()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setFrom(String from)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this.from =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getTo()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setTo(String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 = 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2900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ConverterResponseDTO.java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ec/edu/monster/modelos/dto/ConverterResponseDTO.java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116737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ConverterResponseDTO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double resultado;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ConverterResponseDTO(EstadosEnum estado, String mensaje, double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setResultado(double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getResultado()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697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LoginResponseDTO.java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ec/edu/monster/modelos/dto/LoginResponseDTO.java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4040863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LoginResponseDTO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token;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LoginResponseDTO(EstadosEnum estado, String mensaje,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setToken(String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getToken()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8556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6963488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EstadosEnum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mensaje;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ResponseDTO(EstadosEnum estado, 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setEstado(EstadosEnum estado)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EstadosEnum getEstado()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setMensaje(String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04990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UserDTO.java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54672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ResponseDTO.java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getMensaje()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UserDTO.java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UserDTO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password;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UserDTO()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UserDTO(String username, 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this.password = password;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getUsername()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30187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UserDTO.java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EstadosEnum.java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Enumeración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214915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UserDTO.java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setUsername(String username)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getPassword()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password;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setPassword(String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this.password = password;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EstadosEnum.java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ec.edu.monster.modelos.enums;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enum EstadosEnum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ERROR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1636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DataConverter.java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ec/edu/monster/modelos/interfaces/DataConverter.java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833119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ec.edu.monster.modelos.interfaces;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Map&lt;String, Double&gt;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default double convert(double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map = this.toMap();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valueFrom = map.get(from);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valueTo = map.get(to);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value * valueFrom / valueTo;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default Set&lt;String&gt; getUnits()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this.toMap().keySet();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33271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4415292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ec.edu.monster.modelos.interfaces;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LoginRepository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String validateCredentials(String username, String password) throws Exception;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LoginImplRepository.java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ec.edu.monster.modelos.repositorios;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LoginImplRepository implements LoginRepository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HashMap&lt;String, String&gt; users;  // HashMap&lt;username, password&gt;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LoginImplRepository()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 = new HashMap&lt;String, String&gt;();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96394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3721176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Credentials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this.users.put("monster", "monster9");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validateCredentials(String username, String password)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No DB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localUsername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localPassword = this.users.get(localUsername);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(!localUsername.equals(username) || !localPassword.equals(password))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throw new Exception("Invalid User");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TokenService.generateToken();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4866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AreaModel.java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ec/edu/monster/modelos/data/AreaModel.java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309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AreaModel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squareCentimeter = 0.0001;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squareKilometer = 1000000;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hectare = 10000;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squareFeet = 0.092903;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acre = 4046.86;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data.put("cm2", this.squareCentimeter);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data.put("m2", this.squareMeter);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data.put("km2", this.squareKilometer);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data.put("ha", this.hectare);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data.put("ft2", this.squareFeet);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data.put("ac", this.acre);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2539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ec/edu/monster/modelos/data/LongitudModel.java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088343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LongitudModel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kilometer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hectometer = 100;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decameter = 10;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decimeter = 0.1;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centimeter = 0.01;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//private final double millimeter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feet = 0.3048;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yard = 0.9144;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mile = 1609.344;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Map&lt;String, Double&gt; data = new HashMap&lt;&gt;();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63804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30464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data.put("km", this.kilometer);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data.put("hm", this.hectometer);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data.put("Dm", this.decameter);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data.put("m", this.meter);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data.put("dm", this.decimeter);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data.put("cm", this.centimeter);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data.put("mm", this.millimeter);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data.put("ft", this.feet);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data.put("yd", this.yard);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data.put("mi", this.mile);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32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MasaPesoModel.java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ec/edu/monster/modelos/data/MasaPesoModel.java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022847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MasaPesoModel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gram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kilogram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ounce = 0.0283495;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pound = 0.453592;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quintal = 100;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data.put("g", this.gram);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data.put("kg", this.kilogram);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data.put("oz", this.ounce);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data.put("lb", this.pound);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data.put("qq", this.quintal);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3884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ec/edu/monster/modelos/data/TemperaturaModel.java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9784955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TemperaturaModel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data.put("°C",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data.put("°F",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data.put("°N",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data.put("°Ré", 1.0);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convert(double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(!toMap().containsKey(from) || !toMap().containsKey(to))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Celsius First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celsius;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77106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9372576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(from)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(value - 32) * 5.0 / 9.0;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- 273.15;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* 100.0 / 33.0;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* 5.0 / 4.0;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8801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325639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9.0 / 5.0 + 32;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+ 273.15;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33.0 / 100.0;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4.0 / 5.0;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85538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TiempoModel.java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ec/edu/monster/modelos/data/TiempoModel.java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037626"/>
              </p:ext>
            </p:extLst>
          </p:nvPr>
        </p:nvGraphicFramePr>
        <p:xfrm>
          <a:off x="3327400" y="2032000"/>
          <a:ext cx="5651500" cy="40436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TiempoModel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millisecond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second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minute =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hour = 60 *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day = 60 * 60 * 24;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week = 60 * 60 * 24 * 7;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data.put("ms" , this.millisecond);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data.put("s" , this.second);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data.put("min" , this.minute);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data.put("h" , this.hour);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data.put("d" , this.day);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data.put("w" , this.week);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07126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VolumenModel.java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ec/edu/monster/modelos/data/VolumenModel.java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D22C27-7B80-25B5-EBD6-89CF6B78D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409222"/>
              </p:ext>
            </p:extLst>
          </p:nvPr>
        </p:nvGraphicFramePr>
        <p:xfrm>
          <a:off x="3327400" y="2032000"/>
          <a:ext cx="5651500" cy="3769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8208007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VolumenModel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milliliter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liter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cubicMeter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cubicFeet = 28.3168;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galon = 3.78541;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data.put("mL", this.milliliter);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data.put("L", this.liter);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data.put("m3", this.cubicMeter);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data.put("ft3", this.cubicFeet);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data.put("gal", this.galon);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5363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9772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1.2.7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NetBeans 31 (Run) sobre Payara Server.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endpoint en http://localhost:8080/WS_CON_UNI_JAVA_RESTFUL/api/login (POST con 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monster / monster9.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836506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21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14487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 java.net.http.HttpClient (incluido en Java 21) para llamar a la API sin librerías extra.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va en el encabezado Authorization y la respuesta JSON se lee con org.json.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98756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 = HttpClient.newHttpClient();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http.send(request,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HttpResponse.BodyHandlers.ofString()).body();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9018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pt-BR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ec/edu/monster/modelos/http/RESTfulClient.java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705087"/>
              </p:ext>
            </p:extLst>
          </p:nvPr>
        </p:nvGraphicFramePr>
        <p:xfrm>
          <a:off x="3327400" y="2032000"/>
          <a:ext cx="5651500" cy="40436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this.http = HttpClient.newHttpClient();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get(EndpointsEnum endpoint)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160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620167"/>
              </p:ext>
            </p:extLst>
          </p:nvPr>
        </p:nvGraphicFramePr>
        <p:xfrm>
          <a:off x="3327400" y="2032000"/>
          <a:ext cx="5651500" cy="40436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get(EndpointsEnum endpoint, String token)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get(String endpoint, String token)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.GET()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00035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559305"/>
              </p:ext>
            </p:extLst>
          </p:nvPr>
        </p:nvGraphicFramePr>
        <p:xfrm>
          <a:off x="3327400" y="2032000"/>
          <a:ext cx="5651500" cy="39065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post(EndpointsEnum endpoint, String json, String token)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.header("Authorization",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post(EndpointsEnum endpoint, String json) throws IOException,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HttpRequest request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.uri(URI.create(baseUrl + endpoint))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40617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608682"/>
              </p:ext>
            </p:extLst>
          </p:nvPr>
        </p:nvGraphicFramePr>
        <p:xfrm>
          <a:off x="3327400" y="2032000"/>
          <a:ext cx="5651500" cy="41808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HttpResponse&lt;String&gt; response = http.send(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HttpResponse.BodyHandlers.ofString()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response.body();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LoginView.java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LoginView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userHasLogin() throws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LoginController ctrl = new LoginController();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Scanner scanner = new Scanner(System.in);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password;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Username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MessagesUtils.printMessage("Username: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 = scanner.nextLine();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06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9E1D6D-5677-8FCA-6B3C-F20D80149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533589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01618905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MessagesUtils.printMessage("Password: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 = scanner.nextLine();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ResponseDTO res = ctrl.login(username,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MessagesUtils.printMessage(res.getMensaje());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TimeUnit.SECONDS.sleep(3);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res.getEstado() == EstadosEnum.OK;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104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45211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9486B2-E973-5E80-88E0-7B643F7E886C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815DC167-1E73-EAEC-2212-9594F81AE8E1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5C5DCE-C02F-728D-9816-E512FF59C860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9B0612A2-461D-797F-4BEB-EF5D7AC6F534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1D1F09-A679-448D-0780-7FE240960946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C2BE21A-59BD-8C39-252B-C169EB7AF608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7DC3DF-F30B-D050-167F-AADDF48A8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74" y="3079484"/>
            <a:ext cx="1926055" cy="320127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0572CDA-91C4-6F37-0128-1F6B969009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9102" y="3079484"/>
            <a:ext cx="2305050" cy="32289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C3C3F2-5504-750C-FBC1-B21C63525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3031048"/>
            <a:ext cx="2283026" cy="327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941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Swing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08557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Arma las peticiones POST con cuerpo JSON y agrega el token en Authorization cuando hay sesión.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Tiene tiempos de espera de 5 s (conexión) y 15 s (petición) para no bloquear la ventana.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6439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String post(EndpointsEnum endpoint, String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enviar(constructor(endpoint.toString(),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HttpRequest.Builder constructor(String recurso,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HttpRequest.Builder constructor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.uri(URI.create(urlBase + recurso))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.timeout(REQUEST_TIMEOUT)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.header("Accept",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constructor.header("Authorization",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constructor;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6698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pt-BR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75157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Minimal HTTP transport for the RESTful server. The session token travels in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the {@code Authorization} header; it is omitted when the token is null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(login). The body is returned as text whatever the status code, because the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server reports its errors inside a JSON body.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static final String URL_BASE =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CONNECT_TIMEOUT = Duration.ofSeconds(5);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REQUEST_TIMEOUT = Duration.ofSeconds(15);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RESTfulClient()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this(URL_BASE);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RESTfulClient(String urlBase)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this.urlBase = urlBase.endsWith("/")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The server is shared by several clients and may stall: fail instead of waiting forever.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this.http = HttpClient.newBuilder().connectTimeout(CONNECT_TIMEOUT).build();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36523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48754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get(String recurso,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enviar(constructor(recurso, token).GET().build());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post(EndpointsEnum endpoint,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enviar(constructor(endpoint.toString(),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HttpRequest.Builder constructor(String recurso,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HttpRequest.Builder constructor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.uri(URI.create(urlBase + recurso))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.timeout(REQUEST_TIMEOUT)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.header("Accept",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(token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constructor.header("Authorization",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constructor;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21964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(1/5)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5879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String enviar(HttpRequest solicitud)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http.send(solicitud, HttpResponse.BodyHandlers.ofString()).body();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(InterruptedException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Thread.currentThread().interrupt();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InterruptedIOException("Solicitud interrumpida");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LoginFrame.java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Login window. Navigation to the main window is delegated to the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{@code alAbrirMenu} callback supplied by the composition root.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LoginFrame extends JFrame implements LoginVista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Runnable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JTextField campoUsuario = Estilos.entrada(new JTextField());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JPasswordField campoClave = Estilos.entrada(new JPasswordField());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JButton botonIngresar = Estilos.botonPrimario("Ingresar");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Runnable accionIngresar = () -&gt; {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Snapshots taken on the EDT so the controller can read them from a worker thread.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volatile String usuarioActual;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volatile String claveActual;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5194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(2/5)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4907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LoginFrame(Runnable alAbrirMenu)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super(Estilos.TITULO_VENTANA);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this.alAbrirMenu =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setDefaultCloseOperation(WindowConstants.EXIT_ON_CLOSE);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setSize(640, 480);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setLocationRelativeTo(null);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setContentPane(construirContenido());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JMenu archivo = Estilos.menu("Archivo");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archivo.add(Estilos.opcion("Salir",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() -&gt; dispatchEvent(new WindowEvent(this, WindowEvent.WINDOW_CLOSING))));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setJMenuBar(Estilos.barraMenu(archivo, Estilos.menuAyuda(this)));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getRootPane().setDefaultButton(botonIngresar);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botonIngresar.addActionListener(e -&gt; ingresar());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JPanel construirContenido()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formulario = new JPanel(new GridBagLayout());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formulario.setOpaque(false);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GridBagConstraints c = new GridBagConstraints();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c.gridx =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c.fill = GridBagConstraints.HORIZONTAL;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c.weightx = 1;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03186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(3/5)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88982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formulario.add(Estilos.titulo("Iniciar sesión"),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8,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formulario.add(Estilos.etiqueta("Usuario"),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formulario.add(campoUsuario,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8,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formulario.add(Estilos.etiqueta("Contraseña"),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formulario.add(campoClave, c);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filaBoton = new JPanel(new FlowLayout(FlowLayout.RIGHT, 0, 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filaBoton.setOpaque(false);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botonIngresar.setPreferredSize(new Dimension(126, 40));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filaBoton.add(botonIngresar);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0,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formulario.add(filaBoton, c);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estado = Estilos.estadoServicio("Servicio disponible");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estado.setBorder(BorderFactory.createEmptyBorder(0, 50, 18, 50));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39116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(4/5)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9328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raiz = new JPanel(new BorderLayout());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raiz.setBackground(Estilos.FONDO);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raiz.setBorder(BorderFactory.createEmptyBorder(36, 50, 0, 50));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raiz.add(formulario, BorderLayout.NORTH);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contenedor = new JPanel(new BorderLayout());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contenedor.setBackground(Estilos.FONDO);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contenedor.add(raiz, BorderLayout.CENTER);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contenedor.add(estado, BorderLayout.SOUTH);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contenedor;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ingresar()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usuarioActual = campoUsuario.getText();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claveActual = new String(campoClave.getPassword());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Estilos.enSegundoPlano(accionIngresar, this::mostrarError, 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getUsuario()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usuarioActual;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getClave()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claveActual;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87236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(5/5)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FC39D4-1378-38B5-2F2C-CE55672755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159852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98063053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mostrarError(String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Estilos.enEdt(() -&gt; JOptionPane.showOptionDialog(this, mensaje, Estilos.TITULO_VENTANA,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JOptionPane.DEFAULT_OPTION, JOptionPane.ERROR_MESSAGE, null,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new Object[] {"Aceptar"}, "Aceptar"));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abrirMenu()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Estilos.enEdt(()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claveActual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alAbrirMenu.run();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dispose();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alIngresar(Runnable accion)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this.accionIngresar = accion;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59484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3784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E7D8-C68D-A945-5617-A3CC747592FD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6F8B970-EF19-9672-A348-A24FA8BBF29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E9286B-A82C-4265-BB9E-477E92DDDEE7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62907B29-DE90-7481-4594-EB4E369BAA8C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3AEE9-AE51-67CF-864D-D573C4DD896D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6DF27886-CF52-DCAF-E384-B8F353B008EE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6447EB-0A2E-5B13-6DAF-FE6854EFE8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7112" b="60054"/>
          <a:stretch>
            <a:fillRect/>
          </a:stretch>
        </p:blipFill>
        <p:spPr>
          <a:xfrm>
            <a:off x="581191" y="3693801"/>
            <a:ext cx="2632964" cy="19108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66A204-C93C-6A03-E293-B73E77F63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400" y="3584220"/>
            <a:ext cx="2570640" cy="21126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EA1979-2291-4E13-7EF8-AA3EBB313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301" y="3693802"/>
            <a:ext cx="2667000" cy="180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5176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JSP / Servlets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WEB_CON_UNI_JAVA_RESTful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54035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servlet recibe el formulario de login y llama a la API REST mediante ConversorServicio y RESTfulClient.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Guarda la sesión en una HttpSession nueva; si falla, vuelve a mostrar el login con el mensaje de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664019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protected void doPost(HttpServletRequest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ConversorServicio servicio = 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SesionUsuario.guardar(nuevaSesion(request),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831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pt-BR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0148"/>
              </p:ext>
            </p:extLst>
          </p:nvPr>
        </p:nvGraphicFramePr>
        <p:xfrm>
          <a:off x="3327400" y="2032000"/>
          <a:ext cx="5651500" cy="39065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Minimal HTTP transport for the RESTful server. The session token travels in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the {@code Authorization} header; it is omitted when the token is null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(login). The body is returned as text whatever the status code, because the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server reports its errors inside a JSON body.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RESTfulClient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static final String URL_BASE = "http://localhost:8080/WS_CON_UNI_JAVA_RESTFUL/api/";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CONNECT_TIMEOUT = Duration.ofSeconds(5);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REQUEST_TIMEOUT = Duration.ofSeconds(15);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RESTfulClient()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this(URL_BASE);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RESTfulClient(String urlBase)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this.urlBase = urlBase.endsWith("/")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The server is shared by several clients and may stall: fail instead of waiting forever.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this.http = HttpClient.newBuilder().connectTimeout(CONNECT_TIMEOUT).build();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59045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121006"/>
              </p:ext>
            </p:extLst>
          </p:nvPr>
        </p:nvGraphicFramePr>
        <p:xfrm>
          <a:off x="3327400" y="2032000"/>
          <a:ext cx="5651500" cy="30835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get(String recurso,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enviar(constructor(recurso, token).GET().build());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post(EndpointsEnum endpoint,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enviar(constructor(endpoint.toString(),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.header("Content-Type", "application/json")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.POST(HttpRequest.BodyPublishers.ofString(json))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.build());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HttpRequest.Builder constructor(String recurso,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HttpRequest.Builder constructor = HttpRequest.newBuilder()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.uri(URI.create(urlBase + recurso))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.timeout(REQUEST_TIMEOUT)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.header("Accept",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(token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constructor.header("Authorization",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constructor;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7952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810441"/>
              </p:ext>
            </p:extLst>
          </p:nvPr>
        </p:nvGraphicFramePr>
        <p:xfrm>
          <a:off x="3327400" y="2032000"/>
          <a:ext cx="5651500" cy="33578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String enviar(HttpRequest solicitud)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http.send(solicitud, HttpResponse.BodyHandlers.ofString()).body();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(InterruptedException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Thread.currentThread().interrupt();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InterruptedIOException("Solicitud interrumpida");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LoginServlet.java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Login page: validates the input, asks the model to log in and, on success,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stores the user's own service in a fresh HttpSession.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@WebServlet("/login")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LoginServlet extends HttpServlet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CREDENCIALES_VACIAS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VISTA = "/ec/edu/monster/vista/login.jsp";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77732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9384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doGet(HttpServletRequest request,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(SesionUsuario.activa(request))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mostrar(request, response, null,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doPost(HttpServletRequest request,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(estaVacio(usuario) || estaVacio(clave))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mostrar(request, response, usuario, CREDENCIALES_VACIAS);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ConversorServicio servicio = FabricaServicios.de(getServletContext()).crearServicio(sesion);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HttpSession httpSesion = nuevaSesion(request);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SesionUsuario.guardar(httpSesion,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912580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19509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Discards any previous session so its id and state are never reused (session fixation).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HttpSession nuevaSesion(HttpServletRequest request)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HttpSession anterior = request.getSession(false);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(anterior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anterior.invalidate();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 catch (IllegalStateException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// Already invalidated.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request.getSession(true);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mostrar(HttpServletRequest request, HttpServletResponse response, String usuario, String error)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The password is never sent back to the page.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request.setAttribute("usuario", usuario == null ? "" : 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request.setAttribute("error", error);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request.setAttribute("servicioDisponible", FabricaServicios.de(getServletContext()).disponible());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request.getRequestDispatcher(VISTA).forward(request, response);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boolean estaVacio(String texto)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texto == null || texto.isBlank();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207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login.jsp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ec/edu/monster/vista/login.jsp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16869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page contentType="text/html; charset=UTF-8" pageEncoding="UTF-8"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taglib prefix="c" uri="jakarta.tags.core"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&lt;!DOCTYPE html&gt;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&lt;html lang="es"&gt;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&lt;head&gt;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&lt;meta charset="UTF-8"&gt;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&lt;meta name="viewport" content="width=device-width, initial-scale=1"&gt;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&lt;title&gt;Iniciar sesión - Conversión de Unidades Monster&lt;/title&gt;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&lt;link rel="stylesheet" href="${pageContext.request.contextPath}/css/estilos.css"&gt;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&lt;/head&gt;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&lt;body&gt;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include file="/ec/edu/monster/vista/fragmentos/cabecera.jspf"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&lt;main class="contenido-centrado"&gt;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&lt;section class="tarjeta tarjeta-login"&gt;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&lt;h1&gt;Iniciar sesión&lt;/h1&gt;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method="post" action="${pageContext.request.contextPath}/login" novalidate&gt;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for="usuario"&gt;Usuario&lt;/label&gt;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type="text" id="usuario" name="usuario" value="&lt;c:out value='${usuario}'/&gt;"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autocomplete="username" autofocus&gt;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for="clave"&gt;Contraseña&lt;/label&gt;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type="password" id="clave" name="clave" autocomplete="current-password"&gt;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class="boton"&gt;Ingresar&lt;/button&gt;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&lt;/section&gt;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&lt;/main&gt;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&lt;c:if test="${not empty error}"&gt;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&lt;dialog id="dialogo-error" class="dialogo" open&gt;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&lt;h2&gt;Error de autenticación&lt;/h2&gt;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&lt;p&gt;&lt;c:out value="${error}"/&gt;&lt;/p&gt;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method="dialog"&gt;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1455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login.jsp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82D55E-603B-16FF-E63E-78C0F296D5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42741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5870652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class="boton"&gt;Aceptar&lt;/button&gt;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&lt;/dialog&gt;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Reopen as a modal dialog so the page behind is dimmed, as in the mockup.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(function 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var dialogo = document.getElementById('dialogo-error');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(dialogo &amp;&amp; dialogo.showModal)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dialogo.showModal();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&lt;/c:if&gt;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&lt;/body&gt;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&lt;/html&gt;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995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17053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DD8C91-D654-C9D5-DE09-FFE8E9EAC69A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8D68B877-F18F-DFD2-DBB7-67890B97FF9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75C655-7B70-4FF9-C16C-9A3991158449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7E9C0C39-FE4E-C355-CD77-47B281AED3FF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9BFD52-3A43-1A8A-F2B2-244616619E6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E5C63477-D2AE-F231-ACFF-DD24906AD2F6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26D1CDF-32D5-DB11-93D6-96424A7A15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42" t="-1" r="26887" b="25898"/>
          <a:stretch>
            <a:fillRect/>
          </a:stretch>
        </p:blipFill>
        <p:spPr>
          <a:xfrm>
            <a:off x="772948" y="3429000"/>
            <a:ext cx="2317094" cy="24448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CAE469-F9F0-918F-F085-80F737CD72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154" y="3809999"/>
            <a:ext cx="2639146" cy="17842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07340D0-34D6-9880-D367-85ADF1DC92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0" y="3744815"/>
            <a:ext cx="2639146" cy="170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4858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(Java)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MOV_CON_UNI_JAVA_RESTFUL creado en NetBeans 31 (Java with Gradle).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99845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Un solo método envía GET y POST con HttpURLConnection, disponible en Android sin librerías extra.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Lee el cuerpo también en errores (400, 401) para mostrar el mensaje que devuelve el servidor.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375638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RespuestaHttp enviar(String metodo, String ruta,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HttpURLConnection conexion = (HttpURLConnection)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URL(urlBase + ruta).openConnection();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conexion.setRequestMethod(metodo);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conexion.setRequestProperty("Authorization",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(json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conexion.setRequestProperty("Content-Type",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"application/json;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salida.write(json.getBytes(StandardCharsets.UTF_8));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InputStream flujo = codigo &gt;= 400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? conexion.getErrorStream() : conexion.getInputStream();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RespuestaHttp(codigo,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conexion.getResponseMessage(), leer(flujo));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612347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ec/edu/monster/servicios/ClienteRest.java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059616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ec.edu.monster.servicios;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ClienteRest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int tiempoEsperaMs;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ClienteRest(String urlBase)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this(urlBase, RestConfig.TIEMPO_ESPERA_MS);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ClienteRest(String urlBase, int tiempoEsperaMs)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this.urlBase = urlBase.endsWith("/")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this.tiempoEsperaMs = tiempoEsperaMs;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getUrlBase()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RespuestaHttp get(String ruta,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enviar("GET", ruta, null,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RespuestaHttp postJson(String ruta,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enviar("POST", ruta, json,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49286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500141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RespuestaHttp enviar(String metodo, String ruta, String json, String token)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HttpURLConnection conexion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 = (HttpURLConnection) new URL(urlBase + ruta).openConnection();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conexion.setRequestMethod(metodo);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conexion.setConnectTimeout(tiempoEsperaMs);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conexion.setReadTimeout(tiempoEsperaMs);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conexion.setUseCaches(false);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conexion.setRequestProperty("Accept",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(token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conexion.setRequestProperty("Authorization",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(json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conexion.setRequestProperty("Content-Type", "application/json;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salida.write(json.getBytes(StandardCharsets.UTF_8));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788776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842319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InputStream flujo = codigo &gt;= 400 ? conexion.getErrorStream() : conexion.getInputStream();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cuerpo = flujo != null ? leer(flujo) :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new RespuestaHttp(codigo, conexion.getResponseMessage(), cuerpo);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finally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(conexion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conexion.disconnect();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String leer(InputStream flujo)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(InputStream entrada = flujo; ByteArrayOutputStream buffer = new ByteArrayOutputStream())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byte[] bloque = new byte[4096];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int leidos;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while ((leidos = entrada.read(bloque)) != -1)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buffer.write(bloque, 0, leidos);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buffer.toString(StandardCharsets.UTF_8.name());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5499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LoginRestRepositorio.java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ec/edu/monster/modelos/repositorios/LoginRestRepositorio.java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384978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ec.edu.monster.modelos.repositorios;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LoginRestRepositorio implements LoginRepositorio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ClienteRest cliente;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VerificadorRed red;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LoginRestRepositorio(ClienteRest cliente, VerificadorRed red)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this.cliente = cliente;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this.red = red;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LoginResultado iniciarSesion(String usuario, String clave)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(red.sinRed())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LoginResultado.error(RestErrores.SIN_CONEXION);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json = new LoginRequestDTO(usuario, clave).aJson();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RespuestaHttp respuesta = cliente.postJson("login", json,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LoginResponseDTO dto = RestErrores.leerDto(respuesta, LoginResponseDTO::desdeJson);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(dto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LoginResultado.error(RestErrores.mensajeSinDto(respuesta));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06382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LoginRestRepositorio.java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(1/5)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821387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LoginRestRepositorio.java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(dto.getEstado() != EstadosEnum.OK)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RestErrores.mensajeServidor(dto.getMensaje(), "Usuario o contraseña incorrectos"));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token = dto.getToken();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(token == null || token.trim().isEmpty())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LoginResultado.error(RestErrores.RESPUESTA_INCOMPLETA);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new LoginResultado(true, dto.getMensaje() != null ? dto.getMensaje() : "",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LoginResultado.error(RestErrores.mensaje(e));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LoginActivity.java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LoginActivity extends AppCompatActivity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LoginControlador controlador;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EjecutorTareas tareas;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57627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(2/5)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496526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EditText txtUsuario;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EditText txtClave;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MaterialButton btnIngresar;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CircularProgressIndicator prgCargando;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TextView lblError;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onCreate(Bundle savedInstanceState)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super.onCreate(savedInstanceState);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EdgeToEdge.enable(this,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SystemBarStyle.dark(Color.TRANSPARENT),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SystemBarStyle.light(Color.TRANSPARENT, Color.TRANSPARENT));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setContentView(R.layout.activity_login);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AplicacionMonster app = AplicacionMonster.de(this);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controlador = app.crearLoginControlador();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tareas = app.getTareas();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 = findViewById(R.id.txtUsuario);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 = findViewById(R.id.txtClave);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 = findViewById(R.id.btnIngresar);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prgCargando = findViewById(R.id.prgCargando);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 = findViewById(R.id.lblError);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txtUsuario.setFilters(new InputFilter[] { new InputFilter.LengthFilter(LoginControlador.MAX_USUARIO)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txtClave.setFilters(new InputFilter[] { new InputFilter.LengthFilter(LoginControlador.MAX_CLAVE) });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0214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(3/5)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888455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txtUsuario.setOnEditorActionListener((v, accion, evento)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(accion == EditorInfo.IME_ACTION_NEXT || esEnter(evento))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txtClave.requestFocus();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txtClave.setOnEditorActionListener((v, accion, evento)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(accion == EditorInfo.IME_ACTION_GO || esEnter(evento))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alIngresar();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btnIngresar.setOnClickListener(v -&gt; alIngresar());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AjusteBordes.barraSuperior(findViewById(R.id.barraSuperior));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AjusteBordes.contenidoInferior(findViewById(R.id.contenido));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boolean esEnter(KeyEvent evento)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evento != null &amp;&amp; evento.getKeyCode() == KeyEvent.KEYCODE_ENTER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&amp;&amp; evento.getAction() == KeyEvent.ACTION_DOWN;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alIngresar()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(!btnIngresar.isEnabled())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879259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(4/5)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562002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usuario = txtUsuario.getText().toString();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clave = txtClave.getText().toString();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mostrarCargando(true);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lblError.setVisibility(View.GONE);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tareas.ejecutar(() -&gt; controlador.iniciarSesion(usuario, clave),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this::alTerminarLogin,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error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if (sigueAbierta())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mostrarError(getString(R.string.error_inesperado));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alTerminarLogin(LoginResultado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(!sigueAbierta())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(resultado.isExito())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txtClave.setText("");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startActivity(new Intent(this, PrincipalActivity.class));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finish();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else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mostrarError(resultado.getMensaje());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639912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(5/5)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AE394E-1533-A010-861F-C3B36CFD2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3024339"/>
              </p:ext>
            </p:extLst>
          </p:nvPr>
        </p:nvGraphicFramePr>
        <p:xfrm>
          <a:off x="3327400" y="2032000"/>
          <a:ext cx="5651500" cy="38912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1466573825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boolean sigueAbierta()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!isFinishing() &amp;&amp; !isDestroyed();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mostrarCargando(boolean cargando)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prgCargando.setVisibility(cargando ? View.VISIBLE : View.GONE);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mostrarError(String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lblError.setText(mensaje);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lblError.setVisibility(View.VISIBLE);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613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031411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19E767-9ADE-A461-4C00-DA0191818A1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BBBFD2-69B7-C224-D9EE-267A4759DA24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AAE2E6-C14F-65F2-342E-390732BDA77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DAEDC8-0564-F62D-A38B-466BCC211C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579"/>
          <a:stretch>
            <a:fillRect/>
          </a:stretch>
        </p:blipFill>
        <p:spPr>
          <a:xfrm>
            <a:off x="702628" y="3010242"/>
            <a:ext cx="1944447" cy="33864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65CEC5-347A-DF35-9925-68AFC01D3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432" y="2937019"/>
            <a:ext cx="1788140" cy="38724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3FEECD-EB69-0770-734E-D380B0B8E9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9727" y="2937019"/>
            <a:ext cx="1588814" cy="34407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59828E-46E3-4282-3E1F-115EE184F9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8541" y="2937019"/>
            <a:ext cx="1554362" cy="336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5284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RESTful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JAX-RS permitió publicar los recursos con anotaciones (@Path, @GET, @POST) y responder JSON con códigos HTTP 200 y 401.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9211712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Documentar la API con OpenAPI para facilitar su consumo desde nuevos clientes.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88585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13810</Words>
  <Application>Microsoft Office PowerPoint</Application>
  <PresentationFormat>Widescreen</PresentationFormat>
  <Paragraphs>2600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7" baseType="lpstr">
      <vt:lpstr>Cambria</vt:lpstr>
      <vt:lpstr>Noto Sans Symbols</vt:lpstr>
      <vt:lpstr>Calibri</vt:lpstr>
      <vt:lpstr>Gill Sans</vt:lpstr>
      <vt:lpstr>Arial</vt:lpstr>
      <vt:lpstr>Dividendo</vt:lpstr>
      <vt:lpstr>MANUAL CONVERSIÓN UNIDADES RESTFUL JAVA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11</cp:revision>
  <dcterms:modified xsi:type="dcterms:W3CDTF">2026-10-27T17:42:48Z</dcterms:modified>
</cp:coreProperties>
</file>