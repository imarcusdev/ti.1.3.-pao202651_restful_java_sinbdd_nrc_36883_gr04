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56" r:id="rId28"/>
    <p:sldId id="357" r:id="rId29"/>
    <p:sldId id="358" r:id="rId30"/>
    <p:sldId id="359" r:id="rId31"/>
  </p:sldIdLst>
  <p:sldSz cx="12192000" cy="6858000"/>
  <p:notesSz cx="6858000" cy="9144000"/>
  <p:embeddedFontLst>
    <p:embeddedFont>
      <p:font typeface="Cambria" panose="02040503050406030204" pitchFamily="18" charset="0"/>
      <p:regular r:id="rId33"/>
      <p:bold r:id="rId34"/>
      <p:italic r:id="rId35"/>
      <p:boldItalic r:id="rId36"/>
    </p:embeddedFont>
    <p:embeddedFont>
      <p:font typeface="Gill Sans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5036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MARCO TEÓRICO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PRUEBAS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REFERENCIAS</a:t>
            </a: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629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Verificar el funcionamiento de cada cliente contra el servidor mediante pruebas.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127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MARCO TEÓRICO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Conceptos base y visión general del sistema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REST y JSON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Expone recursos por URL que se usan con verbos HTTP (GET, POST) e intercambian datos en JSON.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Ventaja: los mensajes JSON son livianos y cualquier cliente HTTP los consume sin generar código.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894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Arquitectura SOA y patrón MVC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Arquitectura orientada a servicios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expone la lógica como servicios que se consumen por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Clientes en distintas plataformas usan el mismo servicio sin conocer su implementación.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parte se desarrolla y despliega por separado.</a:t>
            </a:r>
          </a:p>
          <a:p>
            <a:pPr marL="342900" indent="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Modelo-Vista-Controlador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datos y conexión con el servidor.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o páginas que ve 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6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recibe las acciones del usuario, usa el modelo y actualiza la vista.</a:t>
            </a:r>
            <a:endParaRPr sz="1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13807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Tecnologías utilizadas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3A12E4-0398-E867-599C-13FC43EC5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368981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2983">
                  <a:extLst>
                    <a:ext uri="{9D8B030D-6E8A-4147-A177-3AD203B41FA5}">
                      <a16:colId xmlns:a16="http://schemas.microsoft.com/office/drawing/2014/main" val="668449220"/>
                    </a:ext>
                  </a:extLst>
                </a:gridCol>
                <a:gridCol w="4105965">
                  <a:extLst>
                    <a:ext uri="{9D8B030D-6E8A-4147-A177-3AD203B41FA5}">
                      <a16:colId xmlns:a16="http://schemas.microsoft.com/office/drawing/2014/main" val="3550826472"/>
                    </a:ext>
                  </a:extLst>
                </a:gridCol>
                <a:gridCol w="2426252">
                  <a:extLst>
                    <a:ext uri="{9D8B030D-6E8A-4147-A177-3AD203B41FA5}">
                      <a16:colId xmlns:a16="http://schemas.microsoft.com/office/drawing/2014/main" val="66027849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Componente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Tecnología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0999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en Payara (JAX-RS)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11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86278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consola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HttpClient + org.json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21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5072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escritorio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Swing + HttpClient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Java 25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1029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web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JSP / Servlets + HttpClient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Jakarta EE 11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56496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Cliente móvil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Android (Java) + HttpURLConnection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Android SDK 36 · Java 17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631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Herramientas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sv-SE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NetBeans 31, Maven, Gradle, emulador Android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NetBeans 31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4702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5052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Arquitectura del sistema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C40CD08-EC1A-5CF4-34BE-73425EC40169}"/>
              </a:ext>
            </a:extLst>
          </p:cNvPr>
          <p:cNvSpPr/>
          <p:nvPr/>
        </p:nvSpPr>
        <p:spPr>
          <a:xfrm>
            <a:off x="3683000" y="3696042"/>
            <a:ext cx="2159000" cy="1168400"/>
          </a:xfrm>
          <a:prstGeom prst="roundRect">
            <a:avLst>
              <a:gd name="adj" fmla="val 12000"/>
            </a:avLst>
          </a:prstGeom>
          <a:solidFill>
            <a:srgbClr val="1A326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rIns="76200" rtlCol="0" anchor="ctr"/>
          <a:lstStyle/>
          <a:p>
            <a:pPr algn="ctr"/>
            <a:r>
              <a:rPr lang="es-EC" b="1">
                <a:solidFill>
                  <a:srgbClr val="FFFFFF"/>
                </a:solidFill>
                <a:latin typeface="Gill Sans" panose="020B0604020202020204" charset="0"/>
              </a:rPr>
              <a:t>Servidor RESTful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JAVA · localhost:8080</a:t>
            </a:r>
          </a:p>
          <a:p>
            <a:pPr algn="ctr"/>
            <a:r>
              <a:rPr lang="es-EC" sz="1100">
                <a:solidFill>
                  <a:srgbClr val="D6E2F0"/>
                </a:solidFill>
                <a:latin typeface="Cambria" panose="02040503050406030204" pitchFamily="18" charset="0"/>
              </a:rPr>
              <a:t>login · catálogo · conversión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589EC1-F7B7-5394-2145-6E916A500DB4}"/>
              </a:ext>
            </a:extLst>
          </p:cNvPr>
          <p:cNvSpPr/>
          <p:nvPr/>
        </p:nvSpPr>
        <p:spPr>
          <a:xfrm>
            <a:off x="7112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consola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Java HttpClient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F1D2255-33C4-8B57-B231-DA62827DAE52}"/>
              </a:ext>
            </a:extLst>
          </p:cNvPr>
          <p:cNvCxnSpPr/>
          <p:nvPr/>
        </p:nvCxnSpPr>
        <p:spPr>
          <a:xfrm>
            <a:off x="2794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6E80DD-AEBE-224A-A82E-A817F675532D}"/>
              </a:ext>
            </a:extLst>
          </p:cNvPr>
          <p:cNvSpPr/>
          <p:nvPr/>
        </p:nvSpPr>
        <p:spPr>
          <a:xfrm>
            <a:off x="6731000" y="28324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web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JSP / Servlets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759F74-5A6C-1300-BFF2-61EF94FA34AF}"/>
              </a:ext>
            </a:extLst>
          </p:cNvPr>
          <p:cNvCxnSpPr/>
          <p:nvPr/>
        </p:nvCxnSpPr>
        <p:spPr>
          <a:xfrm flipH="1">
            <a:off x="5842000" y="3188042"/>
            <a:ext cx="889000" cy="7620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07AFBE-F578-9291-23F0-8F88D9FB5F94}"/>
              </a:ext>
            </a:extLst>
          </p:cNvPr>
          <p:cNvSpPr/>
          <p:nvPr/>
        </p:nvSpPr>
        <p:spPr>
          <a:xfrm>
            <a:off x="7112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escritorio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Java Swing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B24ED0-ED0E-B2F7-6E84-B91F67DBB370}"/>
              </a:ext>
            </a:extLst>
          </p:cNvPr>
          <p:cNvCxnSpPr/>
          <p:nvPr/>
        </p:nvCxnSpPr>
        <p:spPr>
          <a:xfrm flipV="1">
            <a:off x="2794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021B90-CB83-CF3F-29D1-5204D5A661B2}"/>
              </a:ext>
            </a:extLst>
          </p:cNvPr>
          <p:cNvSpPr/>
          <p:nvPr/>
        </p:nvSpPr>
        <p:spPr>
          <a:xfrm>
            <a:off x="6731000" y="4966042"/>
            <a:ext cx="2082800" cy="7112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 w="12700">
            <a:solidFill>
              <a:srgbClr val="4590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rIns="76200" rtlCol="0" anchor="ctr"/>
          <a:lstStyle/>
          <a:p>
            <a:pPr algn="ctr"/>
            <a:r>
              <a:rPr lang="es-EC" sz="1300" b="1">
                <a:solidFill>
                  <a:srgbClr val="1A3260"/>
                </a:solidFill>
                <a:latin typeface="Gill Sans" panose="020B0604020202020204" charset="0"/>
              </a:rPr>
              <a:t>Cliente móvil</a:t>
            </a:r>
          </a:p>
          <a:p>
            <a:pPr algn="ctr"/>
            <a:r>
              <a:rPr lang="es-EC" sz="1100">
                <a:solidFill>
                  <a:srgbClr val="6B7280"/>
                </a:solidFill>
                <a:latin typeface="Cambria" panose="02040503050406030204" pitchFamily="18" charset="0"/>
              </a:rPr>
              <a:t>Android (Java)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0F7B3FF-B42F-FE54-F0CE-CBA246ABEB47}"/>
              </a:ext>
            </a:extLst>
          </p:cNvPr>
          <p:cNvCxnSpPr/>
          <p:nvPr/>
        </p:nvCxnSpPr>
        <p:spPr>
          <a:xfrm flipH="1" flipV="1">
            <a:off x="5842000" y="4610442"/>
            <a:ext cx="889000" cy="711200"/>
          </a:xfrm>
          <a:prstGeom prst="line">
            <a:avLst/>
          </a:prstGeom>
          <a:ln w="19050">
            <a:solidFill>
              <a:srgbClr val="4590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C6C9E3E-67F5-6568-08CE-460BA5D820D2}"/>
              </a:ext>
            </a:extLst>
          </p:cNvPr>
          <p:cNvSpPr txBox="1"/>
          <p:nvPr/>
        </p:nvSpPr>
        <p:spPr>
          <a:xfrm>
            <a:off x="584200" y="588044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</a:rPr>
              <a:t>Comunicación: HTTP con JSON · autenticación por token en cada llamada</a:t>
            </a:r>
            <a:endParaRPr lang="es-EC" sz="1200" i="1">
              <a:solidFill>
                <a:srgbClr val="6B7280"/>
              </a:solidFill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26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(JAX-RS) · http://localhost:8080/WS_CON_UNI_JAVA_RESTFUL/api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WS_CON_UNI_JAVA_RESTFUL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 y la ruta base /api (@ApplicationPath).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(incluye JAX-RS y JSON-B).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653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48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1107AD-DF98-DB29-89C9-ED68409A3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239699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957322417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832051928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054246638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1375981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14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360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6758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2477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E7885D-5D43-F402-67BA-9EB2DBEDE22C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/api/login  ·  catálogo → GET /api/catalog/{tipo}  ·  conversión → POST /api/converter</a:t>
            </a:r>
          </a:p>
        </p:txBody>
      </p:sp>
    </p:spTree>
    <p:extLst>
      <p:ext uri="{BB962C8B-B14F-4D97-AF65-F5344CB8AC3E}">
        <p14:creationId xmlns:p14="http://schemas.microsoft.com/office/powerpoint/2010/main" val="3536974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FE8225-1C58-B14F-7B29-211BF140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44598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77653065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35618472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2857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5561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068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7629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1215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805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63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148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@Path, @POST y @Produces publican el recurso /api/converter, que recibe y devuelve JSON.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viaja en el encabezado Authorization; si no es válido, el servidor responde 401.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0068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ConvertDTO convert)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Response.status(401).entity(dto).build();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... conversión y respuesta 200 en JSON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963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1.3.6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http://localhost:8080/WS_CON_UNI_JAVA_RESTFUL/api/login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3650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144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java.net.http.HttpClient (incluido en Java 21) para llamar a la API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va en el encabezado Authorization y la respuesta JSON se lee con org.json.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9875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http.send(request,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901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9486B2-E973-5E80-88E0-7B643F7E886C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15DC167-1E73-EAEC-2212-9594F81AE8E1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5C5DCE-C02F-728D-9816-E512FF59C860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9B0612A2-461D-797F-4BEB-EF5D7AC6F534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D1F09-A679-448D-0780-7FE24096094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C2BE21A-59BD-8C39-252B-C169EB7AF608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857094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0855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y agrega el token en Authorization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Tiene tiempos de espera de 5 s (conexión) y 15 s (petición) para no bloquear la ventana.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439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post(EndpointsEnum endpoint,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HttpRequest.Builder constructor(String recurso,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669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E7D8-C68D-A945-5617-A3CC747592F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6F8B970-EF19-9672-A348-A24FA8BBF29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E9286B-A82C-4265-BB9E-477E92DDDEE7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2907B29-DE90-7481-4594-EB4E369BAA8C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3AEE9-AE51-67CF-864D-D573C4DD896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6DF27886-CF52-DCAF-E384-B8F353B008EE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3603517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540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 la API REST mediante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66401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3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DD8C91-D654-C9D5-DE09-FFE8E9EAC69A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D68B877-F18F-DFD2-DBB7-67890B97FF9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5C655-7B70-4FF9-C16C-9A3991158449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7E9C0C39-FE4E-C355-CD77-47B281AED3FF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9BFD52-3A43-1A8A-F2B2-244616619E6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5C63477-D2AE-F231-ACFF-DD24906AD2F6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1040485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MOV_CON_UNI_JAVA_RESTFUL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99845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Un solo método envía GET y POST con HttpURLConnection, disponible en Android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Lee el cuerpo también en errores (400, 401) para mostrar el mensaje que devuelve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3756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RespuestaHttp enviar(String metodo, 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 (HttpURLConnection)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InputStream flujo = codigo &gt;= 400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RespuestaHttp(codigo,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conexion.getResponseMessage(), leer(flujo));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1234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1.7.3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19E767-9ADE-A461-4C00-DA0191818A1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C893E081-9A28-7230-8232-DDBB3B7F778F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BBBFD2-69B7-C224-D9EE-267A4759DA24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D95DA5B2-7D33-4A57-2A00-C594D2AB707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AE2E6-C14F-65F2-342E-390732BDA77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DAC74C5F-66E1-338E-8077-5301F5244A4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42945528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1151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	PRUEBAS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6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Casos verificados contra el servidor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1.8.1	Casos de prueba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554D4C-7B4A-E51F-AD78-DD1E83AB8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648962"/>
              </p:ext>
            </p:extLst>
          </p:nvPr>
        </p:nvGraphicFramePr>
        <p:xfrm>
          <a:off x="584200" y="3285260"/>
          <a:ext cx="858520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8660">
                  <a:extLst>
                    <a:ext uri="{9D8B030D-6E8A-4147-A177-3AD203B41FA5}">
                      <a16:colId xmlns:a16="http://schemas.microsoft.com/office/drawing/2014/main" val="2095021818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3075491856"/>
                    </a:ext>
                  </a:extLst>
                </a:gridCol>
                <a:gridCol w="2005302">
                  <a:extLst>
                    <a:ext uri="{9D8B030D-6E8A-4147-A177-3AD203B41FA5}">
                      <a16:colId xmlns:a16="http://schemas.microsoft.com/office/drawing/2014/main" val="1275308017"/>
                    </a:ext>
                  </a:extLst>
                </a:gridCol>
                <a:gridCol w="3007953">
                  <a:extLst>
                    <a:ext uri="{9D8B030D-6E8A-4147-A177-3AD203B41FA5}">
                      <a16:colId xmlns:a16="http://schemas.microsoft.com/office/drawing/2014/main" val="506747991"/>
                    </a:ext>
                  </a:extLst>
                </a:gridCol>
                <a:gridCol w="1127983">
                  <a:extLst>
                    <a:ext uri="{9D8B030D-6E8A-4147-A177-3AD203B41FA5}">
                      <a16:colId xmlns:a16="http://schemas.microsoft.com/office/drawing/2014/main" val="31800623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#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Caso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Resultado esperado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¿Cumple?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57059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1234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Ingresa al menú principal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52012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 incorrecto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user / clave errónea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Credenciales Incorrectas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43835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mi →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1609,344 m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3299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4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100 °C →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212 °F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5081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kg →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2,2046 lb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32993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6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1 gal →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3,7854 L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7445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7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Valor no numérico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abc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Mensaje de validación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51369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8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Servidor apagado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cualquier acción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No se pudo conectar con el servidor</a:t>
                      </a:r>
                      <a:endParaRPr lang="es-EC" sz="11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[Sí | No]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966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2475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1.8.2	Evidencia de pruebas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236 pruebas automáticas: escritorio (72), web (81) y móvil (83).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Herramienta usada: JUnit 5 (y Mockito en el cliente web).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[Observaciones encontradas durante las pruebas.]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21861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JAX-RS permitió publicar los recursos con anotaciones (@Path, @GET, @POST) y responder JSON con códigos HTTP 200 y 401.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17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Documentar la API con OpenAPI para facilitar su consumo desde nuevos clientes.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885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REFERENCIAS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Fielding, R. T. (2000). Architectural styles and the design of network-based software architectures [Tesis doctoral]. University of California, Irvine.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Fowler, M. (2002). Patterns of enterprise application architecture. Addison-Wesley.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W3C. (2007). SOAP version 1.2 part 1: Messaging framework (2.ª ed.). https://www.w3.org/TR/soap12-part1/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>
                <a:srgbClr val="4590B8"/>
              </a:buClr>
              <a:buChar char="∙"/>
            </a:pPr>
            <a:r>
              <a:rPr lang="es-ES" sz="15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Eclipse Foundation. (2024). Jakarta RESTful Web Services 4.0. https://jakarta.ee/specifications/restful-ws/4.0/</a:t>
            </a:r>
            <a:endParaRPr sz="15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MARCO TEÓRICO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PRUEBAS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REFERENCIAS</a:t>
            </a:r>
            <a:endParaRPr sz="1200" b="1" i="0" u="none" strike="noStrike" cap="none">
              <a:solidFill>
                <a:srgbClr val="FFFF00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133426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3491</Words>
  <Application>Microsoft Office PowerPoint</Application>
  <PresentationFormat>Widescreen</PresentationFormat>
  <Paragraphs>726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Noto Sans Symbols</vt:lpstr>
      <vt:lpstr>Cambria</vt:lpstr>
      <vt:lpstr>Dividendo</vt:lpstr>
      <vt:lpstr>MANUAL CONVERSIÓN UNIDADES RESTFUL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1</cp:revision>
  <dcterms:modified xsi:type="dcterms:W3CDTF">2026-10-27T13:50:24Z</dcterms:modified>
</cp:coreProperties>
</file>